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EBITDA margin, FY26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 EBITDA margin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Nestlé India</c:v>
                  </c:pt>
                  <c:pt idx="1">
                    <c:v>HUL</c:v>
                  </c:pt>
                  <c:pt idx="2">
                    <c:v>Marico</c:v>
                  </c:pt>
                  <c:pt idx="3">
                    <c:v>Britannia</c:v>
                  </c:pt>
                  <c:pt idx="4">
                    <c:v>Dabur</c:v>
                  </c:pt>
                  <c:pt idx="5">
                    <c:v>Tata Consumer</c:v>
                  </c:pt>
                  <c:pt idx="6">
                    <c:v>ITC FMCG</c:v>
                  </c:pt>
                  <c:pt idx="7">
                    <c:v>AWL Agri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26</c:v>
                </c:pt>
                <c:pt idx="1">
                  <c:v>23.6</c:v>
                </c:pt>
                <c:pt idx="2">
                  <c:v>19</c:v>
                </c:pt>
                <c:pt idx="3">
                  <c:v>18.5</c:v>
                </c:pt>
                <c:pt idx="4">
                  <c:v>18</c:v>
                </c:pt>
                <c:pt idx="5">
                  <c:v>13.9</c:v>
                </c:pt>
                <c:pt idx="6">
                  <c:v>11</c:v>
                </c:pt>
                <c:pt idx="7">
                  <c:v>3.5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b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Revenue by segment, ₹ crore — base case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Core India</c:v>
                </c:pt>
              </c:strCache>
            </c:strRef>
          </c:tx>
          <c:spPr>
            <a:solidFill>
              <a:srgbClr val="93A09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  <c:pt idx="5">
                    <c:v>FY31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8990</c:v>
                </c:pt>
                <c:pt idx="1">
                  <c:v>9440</c:v>
                </c:pt>
                <c:pt idx="2">
                  <c:v>9911</c:v>
                </c:pt>
                <c:pt idx="3">
                  <c:v>10407</c:v>
                </c:pt>
                <c:pt idx="4">
                  <c:v>10927</c:v>
                </c:pt>
                <c:pt idx="5">
                  <c:v>11474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 portfolio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  <c:pt idx="5">
                    <c:v>FY31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4000</c:v>
                </c:pt>
                <c:pt idx="1">
                  <c:v>5120</c:v>
                </c:pt>
                <c:pt idx="2">
                  <c:v>6554</c:v>
                </c:pt>
                <c:pt idx="3">
                  <c:v>8389</c:v>
                </c:pt>
                <c:pt idx="4">
                  <c:v>10737</c:v>
                </c:pt>
                <c:pt idx="5">
                  <c:v>13744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Acquired</c:v>
                </c:pt>
              </c:strCache>
            </c:strRef>
          </c:tx>
          <c:spPr>
            <a:solidFill>
              <a:srgbClr val="7ED4B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  <c:pt idx="5">
                    <c:v>FY31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4286</c:v>
                </c:pt>
                <c:pt idx="3">
                  <c:v>5357</c:v>
                </c:pt>
                <c:pt idx="4">
                  <c:v>6696</c:v>
                </c:pt>
                <c:pt idx="5">
                  <c:v>8371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International</c:v>
                </c:pt>
              </c:strCache>
            </c:strRef>
          </c:tx>
          <c:spPr>
            <a:solidFill>
              <a:srgbClr val="9C6B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  <c:pt idx="5">
                    <c:v>FY31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4900</c:v>
                </c:pt>
                <c:pt idx="1">
                  <c:v>5145</c:v>
                </c:pt>
                <c:pt idx="2">
                  <c:v>5402</c:v>
                </c:pt>
                <c:pt idx="3">
                  <c:v>5672</c:v>
                </c:pt>
                <c:pt idx="4">
                  <c:v>5956</c:v>
                </c:pt>
                <c:pt idx="5">
                  <c:v>6254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Non-branded</c:v>
                </c:pt>
              </c:strCache>
            </c:strRef>
          </c:tx>
          <c:spPr>
            <a:solidFill>
              <a:srgbClr val="DCE1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FY26</c:v>
                  </c:pt>
                  <c:pt idx="1">
                    <c:v>FY27</c:v>
                  </c:pt>
                  <c:pt idx="2">
                    <c:v>FY28</c:v>
                  </c:pt>
                  <c:pt idx="3">
                    <c:v>FY29</c:v>
                  </c:pt>
                  <c:pt idx="4">
                    <c:v>FY30</c:v>
                  </c:pt>
                  <c:pt idx="5">
                    <c:v>FY31</c:v>
                  </c:pt>
                </c:lvl>
              </c:multiLvlStrCache>
            </c:multiLvl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2400</c:v>
                </c:pt>
                <c:pt idx="1">
                  <c:v>2400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B787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FY26 revenue, ₹ crore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FY26 revenue (₹ cr)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Amul (brand)</c:v>
                  </c:pt>
                  <c:pt idx="1">
                    <c:v>AWL Agri</c:v>
                  </c:pt>
                  <c:pt idx="2">
                    <c:v>HUL</c:v>
                  </c:pt>
                  <c:pt idx="3">
                    <c:v>ITC FMCG</c:v>
                  </c:pt>
                  <c:pt idx="4">
                    <c:v>Nestlé India</c:v>
                  </c:pt>
                  <c:pt idx="5">
                    <c:v>Reliance Consumer</c:v>
                  </c:pt>
                  <c:pt idx="6">
                    <c:v>Tata Consumer</c:v>
                  </c:pt>
                  <c:pt idx="7">
                    <c:v>Britannia</c:v>
                  </c:pt>
                  <c:pt idx="8">
                    <c:v>Marico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100000</c:v>
                </c:pt>
                <c:pt idx="1">
                  <c:v>74000</c:v>
                </c:pt>
                <c:pt idx="2">
                  <c:v>63763</c:v>
                </c:pt>
                <c:pt idx="3">
                  <c:v>24210</c:v>
                </c:pt>
                <c:pt idx="4">
                  <c:v>23071</c:v>
                </c:pt>
                <c:pt idx="5">
                  <c:v>22000</c:v>
                </c:pt>
                <c:pt idx="6">
                  <c:v>20290</c:v>
                </c:pt>
                <c:pt idx="7">
                  <c:v>19151</c:v>
                </c:pt>
                <c:pt idx="8">
                  <c:v>13611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Change from the FY26 base of ₹20,290 cr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to FY31 revenue (₹ cr)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Core India @ 5%</c:v>
                  </c:pt>
                  <c:pt idx="1">
                    <c:v>Growth portfolio @ 28%</c:v>
                  </c:pt>
                  <c:pt idx="2">
                    <c:v>International @ 5%</c:v>
                  </c:pt>
                  <c:pt idx="3">
                    <c:v>Non-branded divested</c:v>
                  </c:pt>
                  <c:pt idx="4">
                    <c:v>Acquisitions, grown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2484</c:v>
                </c:pt>
                <c:pt idx="1">
                  <c:v>9744</c:v>
                </c:pt>
                <c:pt idx="2">
                  <c:v>1354</c:v>
                </c:pt>
                <c:pt idx="3">
                  <c:v>-2400</c:v>
                </c:pt>
                <c:pt idx="4">
                  <c:v>8371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EBITDA margin drivers, FY26 → FY31 (bps)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Basis points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Mix to growth portfolio</c:v>
                  </c:pt>
                  <c:pt idx="1">
                    <c:v>Non-branded exit</c:v>
                  </c:pt>
                  <c:pt idx="2">
                    <c:v>Cost programme</c:v>
                  </c:pt>
                  <c:pt idx="3">
                    <c:v>Pricing &amp; SKU discipline</c:v>
                  </c:pt>
                  <c:pt idx="4">
                    <c:v>Quick-commerce mix</c:v>
                  </c:pt>
                  <c:pt idx="5">
                    <c:v>A&amp;P step-up</c:v>
                  </c:pt>
                  <c:pt idx="6">
                    <c:v>Acquisition &amp; snacks drag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170</c:v>
                </c:pt>
                <c:pt idx="1">
                  <c:v>55</c:v>
                </c:pt>
                <c:pt idx="2">
                  <c:v>150</c:v>
                </c:pt>
                <c:pt idx="3">
                  <c:v>105</c:v>
                </c:pt>
                <c:pt idx="4">
                  <c:v>-100</c:v>
                </c:pt>
                <c:pt idx="5">
                  <c:v>-100</c:v>
                </c:pt>
                <c:pt idx="6">
                  <c:v>-70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6B7874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6B7874"/>
                </a:solidFill>
                <a:latin typeface="Calibri"/>
              </a:rPr>
              <a:t>Contribution per ₹100 of consumer spend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per ₹100 of consumer spend</c:v>
                </c:pt>
              </c:strCache>
            </c:strRef>
          </c:tx>
          <c:spPr>
            <a:solidFill>
              <a:srgbClr val="0E6B5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6B787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6B5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6B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6B1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E3620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General trade</c:v>
                  </c:pt>
                  <c:pt idx="1">
                    <c:v>Modern trade</c:v>
                  </c:pt>
                  <c:pt idx="2">
                    <c:v>Quick commerce</c:v>
                  </c:pt>
                  <c:pt idx="3">
                    <c:v>D2C (first order)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21</c:v>
                </c:pt>
                <c:pt idx="2">
                  <c:v>16</c:v>
                </c:pt>
                <c:pt idx="3">
                  <c:v>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6B787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0"/>
        <c:axPos val="l"/>
        <c:majorGridlines>
          <c:spPr>
            <a:ln w="12700" cap="flat">
              <a:solidFill>
                <a:srgbClr val="DCE1D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874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Companion deck to the full dossier. Every figure here is argued and sourced in the online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tension in one slide: best-in-class growth, worst-in-class returns, and a closing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to sit on. Competent execution of everything in the plan still finishes behind Nestlé.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the metric BEFORE the snacks deal. Done after, it reads as an excuse.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87452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Dossier · August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8600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FMCG India Dossier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401568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7ED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operator’s guide to the Indian FMCG industry and a five-year plan to make Tata Consumer Products the country’s leading branded food and beverage company.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Committee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328416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through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328416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(June 2026)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089904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089904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 – FY31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51392" y="489204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851392" y="51389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filings &amp; analysis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344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Consumer is growing faster than almost any large Indian FMCG company — and earning less on its capital than any of them.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06324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50" dirty="0">
                <a:solidFill>
                  <a:srgbClr val="7ED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categories that would fix both — snacking and health — have entry windows that close within about three years.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₹20,290 cr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revenue, up 15%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328416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3328416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underlying volume growth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089904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9.2%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089904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capital employed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851392" y="420624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8A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63×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851392" y="480060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multiple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ambition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numbers, not one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alone is a vanity target. These four go to the board together and get repeated in every town hall.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257175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68096" y="2249424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 REVENUE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68096" y="2487168"/>
            <a:ext cx="2169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₹42,500cr</a:t>
            </a:r>
            <a:endParaRPr lang="en-US" sz="3300" dirty="0"/>
          </a:p>
        </p:txBody>
      </p:sp>
      <p:sp>
        <p:nvSpPr>
          <p:cNvPr id="8" name="Text 6"/>
          <p:cNvSpPr txBox="1"/>
          <p:nvPr/>
        </p:nvSpPr>
        <p:spPr>
          <a:xfrm>
            <a:off x="768096" y="3072384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 CAGR. Clears Nestlé India’s ~₹40,660 cr.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94710" y="2103120"/>
            <a:ext cx="257175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95878" y="2249424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 EBITDA MARGIN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3595878" y="2487168"/>
            <a:ext cx="2169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</a:t>
            </a:r>
            <a:endParaRPr lang="en-US" sz="3300" dirty="0"/>
          </a:p>
        </p:txBody>
      </p:sp>
      <p:sp>
        <p:nvSpPr>
          <p:cNvPr id="12" name="Text 10"/>
          <p:cNvSpPr txBox="1"/>
          <p:nvPr/>
        </p:nvSpPr>
        <p:spPr>
          <a:xfrm>
            <a:off x="3595878" y="3072384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13.9%. The honest landing, not 18%.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22492" y="2103120"/>
            <a:ext cx="257175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23660" y="2249424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EX-GOODWILL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23660" y="2487168"/>
            <a:ext cx="2169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3300" dirty="0"/>
          </a:p>
        </p:txBody>
      </p:sp>
      <p:sp>
        <p:nvSpPr>
          <p:cNvPr id="16" name="Text 14"/>
          <p:cNvSpPr txBox="1"/>
          <p:nvPr/>
        </p:nvSpPr>
        <p:spPr>
          <a:xfrm>
            <a:off x="6423660" y="3072384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reaches 13.5%. Report both.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050274" y="2103120"/>
            <a:ext cx="2571750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251442" y="2249424"/>
            <a:ext cx="21694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 AT #1 OR #2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9251442" y="2487168"/>
            <a:ext cx="21694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300" dirty="0"/>
          </a:p>
        </p:txBody>
      </p:sp>
      <p:sp>
        <p:nvSpPr>
          <p:cNvPr id="20" name="Text 18"/>
          <p:cNvSpPr txBox="1"/>
          <p:nvPr/>
        </p:nvSpPr>
        <p:spPr>
          <a:xfrm>
            <a:off x="9251442" y="3072384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roughly 2 today.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" y="4160520"/>
            <a:ext cx="11055096" cy="1371600"/>
          </a:xfrm>
          <a:prstGeom prst="roundRect">
            <a:avLst>
              <a:gd name="adj" fmla="val 4000"/>
            </a:avLst>
          </a:prstGeom>
          <a:solidFill>
            <a:srgbClr val="DBE9E2"/>
          </a:solidFill>
          <a:ln w="12700">
            <a:solidFill>
              <a:srgbClr val="9CC5B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3159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₹42,500 crore and not ₹46,000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608576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earlier reading benchmarked against ITC’s ₹40,790 cr of total FMCG revenue — which includes personal care, agarbatti and stationery. ITC Foods, the business you actually compete with, is a little over ₹20,000 cr. On a like-for-like branded food and beverage basis the bar is Nestlé India at ~₹40,660 cr.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— this document’s projection on stated assumptions, not company guidance.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is real. Returns are not.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589520" y="1783080"/>
            <a:ext cx="4032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that matters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194560"/>
            <a:ext cx="403250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Consumer sits sixth of eight on margin, and last on returns — while carrying the best volume growth in the set.</a:t>
            </a:r>
            <a:endParaRPr lang="en-US" sz="120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half the margin gap is mix. The other half is addressable.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of 9.2% against a 63× multiple means the market is paying a compounder price for a business earning close to its cost of capital.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89520" y="4480560"/>
            <a:ext cx="4032504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90688" y="4626864"/>
            <a:ext cx="3630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ROCE — THE CENTRAL PROBLEM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790688" y="4864608"/>
            <a:ext cx="3630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9E3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9.2%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5449824"/>
            <a:ext cx="3630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Three-year ROE of 7.5%.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company disclosures. ITC figure is total FMCG; AWL is predominantly commodity edible oil.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diagnosis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is a cash engine that is quietly ageing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53903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901952"/>
            <a:ext cx="498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is superb — and its category is not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14016"/>
            <a:ext cx="49880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39% share, five straight quarters of double-digit growth, a credible path past 40%, and 40%+ gross margin. But the category itself compounds at 4–6%. Excellence in a slow category is still a slow business.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31636" y="1737360"/>
            <a:ext cx="5390388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9050">
            <a:solidFill>
              <a:srgbClr val="9E362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32804" y="1901952"/>
            <a:ext cx="49880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 is the harder problem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32804" y="2414016"/>
            <a:ext cx="4988052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 grew 2% in Q1 FY27 and revenue fell 4%, in a category the market expects to compound at under 3% a year. It remains the largest single revenue line in the company.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3840480"/>
            <a:ext cx="11055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build a number-one food company on categories growing at 3–5%.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3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~3%</a:t>
            </a:r>
            <a:endParaRPr lang="en-US" sz="27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Packaged tea category growth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28416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9E3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4–6%</a:t>
            </a:r>
            <a:endParaRPr lang="en-US" sz="2700" dirty="0"/>
          </a:p>
        </p:txBody>
      </p:sp>
      <p:sp>
        <p:nvSpPr>
          <p:cNvPr id="14" name="Text 12"/>
          <p:cNvSpPr txBox="1"/>
          <p:nvPr/>
        </p:nvSpPr>
        <p:spPr>
          <a:xfrm>
            <a:off x="3328416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category growth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089904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+47%</a:t>
            </a:r>
            <a:endParaRPr lang="en-US" sz="2700" dirty="0"/>
          </a:p>
        </p:txBody>
      </p:sp>
      <p:sp>
        <p:nvSpPr>
          <p:cNvPr id="16" name="Text 14"/>
          <p:cNvSpPr txBox="1"/>
          <p:nvPr/>
        </p:nvSpPr>
        <p:spPr>
          <a:xfrm>
            <a:off x="6089904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portfolio, Q1 FY27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851392" y="452628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507492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share of India business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FY27 disclosures and earnings call.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growth portfolio is the real story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7040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63840" y="1783080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36% to 60% of India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194560"/>
            <a:ext cx="3758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Sampann, Capital Foods, Organic India, Soulfull and ready-to-drink grew 47% in Q1 FY27 and are now 36% of the India business.</a:t>
            </a:r>
            <a:endParaRPr lang="en-US" sz="120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Management’s aspiration is ~45% within three to four years. That is a good target for the company you have — not for the company you want.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45% the core still governs the growth rate, and the core grows at 5%. At 60% the growth portfolio governs.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from the disclosed FY26 segment estimates. Base case: core 5%, growth portfolio 28%.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play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Absent from four of India’s largest food profit pools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37360"/>
            <a:ext cx="258546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901952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 snacks &amp; namkeen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414016"/>
            <a:ext cx="218313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₹46,571 cr today, doubling past ₹1,01,811 cr by 2033. Fragmented behind Haldiram at 36.6%.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0138" y="1737360"/>
            <a:ext cx="258546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91306" y="1901952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 dairy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91306" y="2414016"/>
            <a:ext cx="218313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11–13%. The winnable space is premium, convenience and functional — not commodity milk.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3348" y="1737360"/>
            <a:ext cx="258546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93A09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901952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Biscuits &amp; bakery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2414016"/>
            <a:ext cx="218313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 cr+, but consolidated behind Britannia, Parle, ITC and Mondelez.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36558" y="1737360"/>
            <a:ext cx="2585466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93A0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7726" y="1901952"/>
            <a:ext cx="21831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Chocolate &amp; confectionery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237726" y="2414016"/>
            <a:ext cx="218313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margin, but Mondelez holds 60%+. This one is a deliberate no.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397764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well over ₹2 lakh crore of consumer spend where Tata Consumer has effectively zero share — despite owning the distribution, the trust and the pantry adjacency to compete.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475488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DBE9E2"/>
          </a:solidFill>
          <a:ln w="12700">
            <a:solidFill>
              <a:srgbClr val="9CC5B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491947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category Tata Consumer leads has structural growth below 6%. Every category growing above 10% is one where it is sub-scale or absent. That single observation is the strategic problem of this company.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sizes from cited industry sources; growth and margin bands are analytical judgment.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you are actually racing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783080"/>
            <a:ext cx="3941064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Amul is unreachable and the wrong target.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cooperative maximising farmer realisation, not profit. AWL is commodity edible oil at 3–4% margins. Chasing either destroys value.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race is branded food and beverage.</a:t>
            </a:r>
            <a:endParaRPr lang="en-US" sz="1150" dirty="0"/>
          </a:p>
          <a:p>
            <a:pPr indent="0" marL="0">
              <a:lnSpc>
                <a:spcPts val="1550"/>
              </a:lnSpc>
              <a:spcAft>
                <a:spcPts val="1200"/>
              </a:spcAft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India at ₹23,071 cr domestic, ITC Foods just over ₹20,000 cr, Britannia at ₹19,151 cr — and Tata Consumer at ₹20,290 cr, growing fastest of the four.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dangerous one is below you.</a:t>
            </a:r>
            <a:endParaRPr lang="en-US" sz="1150" dirty="0"/>
          </a:p>
          <a:p>
            <a:pPr indent="0" marL="0">
              <a:lnSpc>
                <a:spcPts val="155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Consumer went from nothing to ₹22,000 cr in FY26, with Campa at ₹4,700 cr and 3 million outlets — and it is not profit-constrained.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FY26 company disclosures and financial press, cited in the dossier.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 one, defined honestly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317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4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₹42,500 crore by FY31 — a 16% CAGR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200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7ED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to clear Nestlé India’s projected ₹40,660 crore with margin beyond forecast error. Measured against the right competitor, this removes roughly ₹4,000 crore of acquisitions from the funding requirement.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₹40,660 cr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India, FY31 — the bar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328416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₹35,250 cr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328416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Foods, FY31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89904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₹29,470 cr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089904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Britannia, FY31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851392" y="45262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₹37,380 cr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851392" y="5010912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TCPL on current trajectory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CAGRs are assumptions carried through the dossier, not guidance.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₹20,290 crore becomes ₹39,800 crore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737360"/>
            <a:ext cx="39410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882128" y="188366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FY31 BASE CASE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882128" y="212140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₹39,842cr</a:t>
            </a:r>
            <a:endParaRPr lang="en-US" sz="3300" dirty="0"/>
          </a:p>
        </p:txBody>
      </p:sp>
      <p:sp>
        <p:nvSpPr>
          <p:cNvPr id="8" name="Text 5"/>
          <p:cNvSpPr txBox="1"/>
          <p:nvPr/>
        </p:nvSpPr>
        <p:spPr>
          <a:xfrm>
            <a:off x="7882128" y="270662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CAGR on competent execution of the whole plan.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680960" y="3246120"/>
            <a:ext cx="394106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82128" y="339242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NESTLÉ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7882128" y="363016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9E36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−₹818cr</a:t>
            </a:r>
            <a:endParaRPr lang="en-US" sz="3300" dirty="0"/>
          </a:p>
        </p:txBody>
      </p:sp>
      <p:sp>
        <p:nvSpPr>
          <p:cNvPr id="12" name="Text 9"/>
          <p:cNvSpPr txBox="1"/>
          <p:nvPr/>
        </p:nvSpPr>
        <p:spPr>
          <a:xfrm>
            <a:off x="7882128" y="4215384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base case finishes second. Leadership is not the base case.</a:t>
            </a:r>
            <a:endParaRPr lang="en-US" sz="1050" dirty="0"/>
          </a:p>
        </p:txBody>
      </p:sp>
      <p:sp>
        <p:nvSpPr>
          <p:cNvPr id="13" name="Text 10"/>
          <p:cNvSpPr txBox="1"/>
          <p:nvPr/>
        </p:nvSpPr>
        <p:spPr>
          <a:xfrm>
            <a:off x="7680960" y="4754880"/>
            <a:ext cx="39410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it means moving the growth portfolio from 28% to 32% — worth more than doubling the M&amp;A budget, and cheaper, faster and lower-risk.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Modelled. Base case: ₹15,000 cr deployed at 3.5× revenue around FY28, compounding at 25%.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margin walk lands at 16.5%, not 18%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691640"/>
          <a:ext cx="68580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680960" y="1783080"/>
            <a:ext cx="3941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growth ambition fights your margin ambition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680960" y="2423160"/>
            <a:ext cx="394106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Salty snacks earns 12–16% at scale, not 18%.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pays roughly nine points less contribution than the kirana.</a:t>
            </a:r>
            <a:endParaRPr lang="en-US" sz="1200" dirty="0"/>
          </a:p>
          <a:p>
            <a:pPr indent="0" marL="0">
              <a:lnSpc>
                <a:spcPts val="16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Acquisitions dilute for two years before they accrete.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the right move. Every one costs margin.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680960" y="4526280"/>
            <a:ext cx="3941064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82128" y="4672584"/>
            <a:ext cx="3538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FY31 TARGET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7882128" y="4910328"/>
            <a:ext cx="3538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9C6B1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16.5%</a:t>
            </a:r>
            <a:endParaRPr lang="en-US" sz="3300" dirty="0"/>
          </a:p>
        </p:txBody>
      </p:sp>
      <p:sp>
        <p:nvSpPr>
          <p:cNvPr id="10" name="Text 7"/>
          <p:cNvSpPr txBox="1"/>
          <p:nvPr/>
        </p:nvSpPr>
        <p:spPr>
          <a:xfrm>
            <a:off x="7882128" y="5495544"/>
            <a:ext cx="3538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18% target invites hitting it by underinvesting.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Modelled driver attribution, not a reconciliation of statutory accounts.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contradiction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cannot have 18% ROCE and ₹42,500 crore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19456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6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asset bought at 3.5× revenue would need a 63% EBIT margin to earn 18% on that capital. No food business earns that.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42900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7ED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realistic 15% EBIT margin, an asset bought at 3.5× revenue earns about 4.3% ROCE in year one — and only reaches 18% once its revenue has roughly quadrupled on the same invested capital.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66928" y="4389120"/>
            <a:ext cx="5390388" cy="1417320"/>
          </a:xfrm>
          <a:prstGeom prst="roundRect">
            <a:avLst>
              <a:gd name="adj" fmla="val 3871"/>
            </a:avLst>
          </a:prstGeom>
          <a:solidFill>
            <a:srgbClr val="15332B"/>
          </a:solidFill>
          <a:ln w="12700">
            <a:solidFill>
              <a:srgbClr val="2E5C4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" y="452628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ROCE — FOR THE MARKET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477316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13.5% by FY31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525780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by FY34. Say it publicly, with the acquisition arithmetic attached.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31636" y="4389120"/>
            <a:ext cx="5390388" cy="1417320"/>
          </a:xfrm>
          <a:prstGeom prst="roundRect">
            <a:avLst>
              <a:gd name="adj" fmla="val 3871"/>
            </a:avLst>
          </a:prstGeom>
          <a:solidFill>
            <a:srgbClr val="15332B"/>
          </a:solidFill>
          <a:ln w="19050">
            <a:solidFill>
              <a:srgbClr val="4FBF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1092" y="4526280"/>
            <a:ext cx="49514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EX-GOODWILL — FOR MANAGEMENT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451092" y="4773168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 by FY29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451092" y="5257800"/>
            <a:ext cx="4951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7ED4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operating teams actually control. Tie incentives here.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commerce quietly costs you 100 basis points</a:t>
            </a:r>
            <a:endParaRPr lang="en-US" sz="3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37360"/>
          <a:ext cx="63093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23760" y="1783080"/>
            <a:ext cx="439826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rupee earned in quick commerce is not worth a rupee earned in the kirana.</a:t>
            </a:r>
            <a:endParaRPr lang="en-US" sz="120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costs more to serve, carries a media tax that did not exist five years ago, and arrives with a different working-capital profile.</a:t>
            </a:r>
            <a:endParaRPr lang="en-US" sz="1200" dirty="0"/>
          </a:p>
          <a:p>
            <a:pPr indent="0" marL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4% to 15% of the business costs roughly 100bps of company contribution margin — before a single input cost moves.</a:t>
            </a:r>
            <a:endParaRPr lang="en-US" sz="1200" dirty="0"/>
          </a:p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is a grammage architecture in which no two channels carry a directly comparable pack. Channel conflict is almost always self-inflicted.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7223760" y="4617720"/>
            <a:ext cx="4398264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24928" y="4754880"/>
            <a:ext cx="39959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D2C looks worst here because this is a first order. On a repeat order with no acquisition cost, contribution rises to about ₹27 — the best of any channel. The whole D2C case is a repeat-rate case.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channel P&amp;L for a representative packaged food SKU. Relative ranking is robust; absolutes vary.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entry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Salty snacks: buy regional, then nationalise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351434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93A09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56232"/>
            <a:ext cx="311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organically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68296"/>
            <a:ext cx="3112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₹2,500–3,000 cr and 8–10 years. Full control, no goodwill — but the window closes around FY29. Building arrives a decade late.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37304" y="1691640"/>
            <a:ext cx="351434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9C6B1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8472" y="1856232"/>
            <a:ext cx="311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9C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a national platform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538472" y="2368296"/>
            <a:ext cx="3112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₹6,000–12,000 cr. Fast and low-risk, but consumes the entire five-year firepower on one asset — and you pay for national distribution you already own.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07680" y="1691640"/>
            <a:ext cx="3514344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08848" y="1856232"/>
            <a:ext cx="3112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regional, nationalise it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8308848" y="2368296"/>
            <a:ext cx="311200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₹2,500–5,000 cr. Authentic taste authority and plants inside the freshness radius, bought at regional multiples because the seller cannot go national.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977640"/>
            <a:ext cx="11055096" cy="960120"/>
          </a:xfrm>
          <a:prstGeom prst="roundRect">
            <a:avLst>
              <a:gd name="adj" fmla="val 5714"/>
            </a:avLst>
          </a:prstGeom>
          <a:solidFill>
            <a:srgbClr val="DBE9E2"/>
          </a:solidFill>
          <a:ln w="12700">
            <a:solidFill>
              <a:srgbClr val="9CC5B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14223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0E6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for taste and plants. Never pay for reach. A ₹1,200 cr business dominant in two states, bought at 3×, becomes a ₹4,000–5,000 cr business on your distribution within four years.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074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dangerous sentence in this business case is “we will leverage our existing distribution.” A 45–90 day shelf life and a 400–600 km freshness radius force regional manufacturing, and thrice-weekly servicing means the route that carries salt once a month cannot carry namkeen. Salty snacks is a logistics business with a brand on top.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above 3.5× revenue — the arbitrage that justifies this route disappears.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win: five thrusts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384048" cy="384048"/>
          </a:xfrm>
          <a:prstGeom prst="ellipse">
            <a:avLst/>
          </a:prstGeom>
          <a:solidFill>
            <a:srgbClr val="0E6B57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8242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1764792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Rebalance core to growth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057400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businesses from 36% to 60% of India by FY31 — through capital allocation, not exhortation.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3081528"/>
            <a:ext cx="384048" cy="384048"/>
          </a:xfrm>
          <a:prstGeom prst="ellipse">
            <a:avLst/>
          </a:prstGeom>
          <a:solidFill>
            <a:srgbClr val="0E6B57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312267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33856" y="3063240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capital productivity the discipline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3355848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programme at 2.5% of sales, dividend payout from 64% to ~35%, one divestment completed by FY28.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4379976"/>
            <a:ext cx="384048" cy="384048"/>
          </a:xfrm>
          <a:prstGeom prst="ellipse">
            <a:avLst/>
          </a:prstGeom>
          <a:solidFill>
            <a:srgbClr val="0E6B57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4421124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4361688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nominal reach into effective reach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4654296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 mn outlets means little when Tata Water Plus is properly distributed in only 40–50% of the country.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77356" y="1783080"/>
            <a:ext cx="384048" cy="384048"/>
          </a:xfrm>
          <a:prstGeom prst="ellipse">
            <a:avLst/>
          </a:prstGeom>
          <a:solidFill>
            <a:srgbClr val="0E6B57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77356" y="182422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44284" y="1764792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one health and protein platform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844284" y="2057400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Ring-fenced, one leader, one P&amp;L, one pipeline. ₹5,000 cr by FY31 with no acquisition required to start.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77356" y="3081528"/>
            <a:ext cx="384048" cy="384048"/>
          </a:xfrm>
          <a:prstGeom prst="ellipse">
            <a:avLst/>
          </a:prstGeom>
          <a:solidFill>
            <a:srgbClr val="0E6B57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7356" y="312267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44284" y="3063240"/>
            <a:ext cx="47777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salty snacks within 24 months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44284" y="3355848"/>
            <a:ext cx="47777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2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available adjacency, in a category doubling by 2033, before the assets consolidate.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77356" y="4379976"/>
            <a:ext cx="5344668" cy="1097280"/>
          </a:xfrm>
          <a:prstGeom prst="roundRect">
            <a:avLst>
              <a:gd name="adj" fmla="val 5000"/>
            </a:avLst>
          </a:prstGeom>
          <a:solidFill>
            <a:srgbClr val="F6E1DA"/>
          </a:solidFill>
          <a:ln w="12700">
            <a:solidFill>
              <a:srgbClr val="9E36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78524" y="4507992"/>
            <a:ext cx="49423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explicitly not doing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478524" y="4782312"/>
            <a:ext cx="49423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chocolate, biscuits, edible oil, liquid milk or personal care. Not defending tea with price. Not matching Reliance rupee for rupee.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thrust has a named owner, a metric and a first-90-days deliverable in the full dossier.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strategy needs a different organisation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9918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" y="1856232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general managers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68096" y="2368296"/>
            <a:ext cx="219684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categories, each with a real P&amp;L covering revenue, gross margin, A&amp;P and innovation. Geography structures optimise for reach; category structures optimise for share and margin.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85566" y="1691640"/>
            <a:ext cx="259918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6734" y="1856232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channel P&amp;Ls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3586734" y="2368296"/>
            <a:ext cx="219684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trade, modern trade, quick commerce and D2C as separate businesses with their own portfolios, terms, teams and contribution lines.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04204" y="1691640"/>
            <a:ext cx="259918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5372" y="1856232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Ring-fence health &amp; protein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05372" y="2368296"/>
            <a:ext cx="219684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P&amp;L, own pipeline, reporting to the CEO — and exempt from corporate allocation and the quarterly margin conversation for three years.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22842" y="1691640"/>
            <a:ext cx="259918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9050">
            <a:solidFill>
              <a:srgbClr val="0E6B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24010" y="1856232"/>
            <a:ext cx="21968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integration office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9224010" y="2368296"/>
            <a:ext cx="2196846" cy="1307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CFO, with a veto on whether the organisation can absorb the next transaction. Integration capacity, not capital, is the binding constraint.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4023360"/>
            <a:ext cx="1105509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187952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diagnostic question: “Who is accountable for the gross margin of Tata Sampann spices?” If more than one name comes back, you have found why the growth portfolio compounds at 28% rather than 32%. Categories do not have owners in this company. They have sponsors.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5074920"/>
            <a:ext cx="11055096" cy="868680"/>
          </a:xfrm>
          <a:prstGeom prst="roundRect">
            <a:avLst>
              <a:gd name="adj" fmla="val 6316"/>
            </a:avLst>
          </a:prstGeom>
          <a:solidFill>
            <a:srgbClr val="F4E9D2"/>
          </a:solidFill>
          <a:ln w="12700">
            <a:solidFill>
              <a:srgbClr val="9C6B1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3036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6B4A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 warning: do not restructure and acquire in the same twelve months. Restructure in year one, acquire in year two. A company midway through a reorganisation is the worst possible acquirer.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57200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68096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500"/>
              </a:lnSpc>
              <a:buNone/>
            </a:pPr>
            <a:r>
              <a:rPr lang="en-US" sz="31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futures, and the flags that force a rethink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691640"/>
            <a:ext cx="259918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E36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810512"/>
            <a:ext cx="22334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Downside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066544"/>
            <a:ext cx="2233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₹29,100 cr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523744"/>
            <a:ext cx="2233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7.5% CAGR · EBITDA ~14.5%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5566" y="1691640"/>
            <a:ext cx="259918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C6B1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8446" y="1810512"/>
            <a:ext cx="22334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9C6B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568446" y="2066544"/>
            <a:ext cx="2233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₹39,800 cr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568446" y="2523744"/>
            <a:ext cx="2233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14.4% CAGR · EBITDA 16.3%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04204" y="1691640"/>
            <a:ext cx="259918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860">
            <a:solidFill>
              <a:srgbClr val="0E6B5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87084" y="1810512"/>
            <a:ext cx="22334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— the target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387084" y="2066544"/>
            <a:ext cx="2233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₹42,900 cr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387084" y="2523744"/>
            <a:ext cx="2233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 CAGR · EBITDA 16.5%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022842" y="1691640"/>
            <a:ext cx="2599182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0E6B5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05722" y="1810512"/>
            <a:ext cx="22334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40" kern="0" dirty="0">
                <a:solidFill>
                  <a:srgbClr val="0E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205722" y="2066544"/>
            <a:ext cx="223342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8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₹49,100 cr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9205722" y="2523744"/>
            <a:ext cx="223342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19.3% CAGR · EBITDA 17.2%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31089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flags that force the strategy back to the board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3520440"/>
            <a:ext cx="53903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9808" y="3639312"/>
            <a:ext cx="5024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portfolio below 25% for two quarters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49808" y="3977640"/>
            <a:ext cx="50246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the public ambition before the market does; redirect M&amp;A capital into fixing go-to-market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31636" y="3520440"/>
            <a:ext cx="53903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14516" y="3639312"/>
            <a:ext cx="5024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ROCE flat near 9% through FY28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414516" y="3977640"/>
            <a:ext cx="50246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all M&amp;A. More capital into an engine that cannot earn returns makes it worse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4690872"/>
            <a:ext cx="53903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4809744"/>
            <a:ext cx="5024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commerce above 15% of urban revenue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5148072"/>
            <a:ext cx="50246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the channel-native reorganisation ahead of the category-GM transition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31636" y="4690872"/>
            <a:ext cx="5390388" cy="1042416"/>
          </a:xfrm>
          <a:prstGeom prst="roundRect">
            <a:avLst>
              <a:gd name="adj" fmla="val 4386"/>
            </a:avLst>
          </a:prstGeom>
          <a:solidFill>
            <a:srgbClr val="FFFFFF"/>
          </a:solidFill>
          <a:ln w="12700">
            <a:solidFill>
              <a:srgbClr val="DCE1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14516" y="4809744"/>
            <a:ext cx="50246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9E36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snacks asset of scale sells to a rival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414516" y="5148072"/>
            <a:ext cx="50246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6B7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chase. Redeploy to spices, protein and dairy; reset the ambition down ~₹6,000 cr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flags on the monthly scorecard as binary indicators, not commentary.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26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5669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4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932688"/>
            <a:ext cx="110550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executive committee is being asked to decide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66928" y="2148840"/>
            <a:ext cx="384048" cy="384048"/>
          </a:xfrm>
          <a:prstGeom prst="ellipse">
            <a:avLst/>
          </a:prstGeom>
          <a:solidFill>
            <a:srgbClr val="4FBF9E"/>
          </a:solidFill>
          <a:ln w="12700">
            <a:solidFill>
              <a:srgbClr val="4FBF9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21899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33856" y="2130552"/>
            <a:ext cx="4805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four numbers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33856" y="2441448"/>
            <a:ext cx="48051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₹42,500 cr, 16.5% EBITDA, 18% ROCE ex-goodwill, eight category leaderships. Board, month 2.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9924" y="2148840"/>
            <a:ext cx="384048" cy="384048"/>
          </a:xfrm>
          <a:prstGeom prst="ellipse">
            <a:avLst/>
          </a:prstGeom>
          <a:solidFill>
            <a:srgbClr val="4FBF9E"/>
          </a:solidFill>
          <a:ln w="12700">
            <a:solidFill>
              <a:srgbClr val="4FBF9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49924" y="2189988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16852" y="2130552"/>
            <a:ext cx="4805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dividend to fund them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16852" y="2441448"/>
            <a:ext cx="48051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64% toward 35% — roughly ₹500 cr a year of compounding firepower. Board, month 3.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447288"/>
            <a:ext cx="384048" cy="384048"/>
          </a:xfrm>
          <a:prstGeom prst="ellipse">
            <a:avLst/>
          </a:prstGeom>
          <a:solidFill>
            <a:srgbClr val="4FBF9E"/>
          </a:solidFill>
          <a:ln w="12700">
            <a:solidFill>
              <a:srgbClr val="4FBF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6928" y="34884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33856" y="3429000"/>
            <a:ext cx="4805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ROCE metric before the snacks deal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" y="3739896"/>
            <a:ext cx="48051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Statutory for the market, ex-goodwill for incentives, plus a goodwill return test. CFO, month 3.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49924" y="3447288"/>
            <a:ext cx="384048" cy="384048"/>
          </a:xfrm>
          <a:prstGeom prst="ellipse">
            <a:avLst/>
          </a:prstGeom>
          <a:solidFill>
            <a:srgbClr val="4FBF9E"/>
          </a:solidFill>
          <a:ln w="12700">
            <a:solidFill>
              <a:srgbClr val="4FBF9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49924" y="3488436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2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16852" y="3429000"/>
            <a:ext cx="48051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Restructure in year one, acquire in year two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816852" y="3739896"/>
            <a:ext cx="48051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both at once. This costs a year against ITC and Reliance — and is the assumption most worth testing.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02920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000" b="1" dirty="0">
                <a:solidFill>
                  <a:srgbClr val="4FBF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treat 32% growth-portfolio CAGR — not the acquisition budget — as the number the whole plan turns on.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9107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3A0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fourteen decisions, with owners and deadlines, are in the Decisions Required chapter of the dossier.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FMCG India Dossier — Executive Deck</dc:title>
  <dc:subject>PptxGenJS Presentation</dc:subject>
  <dc:creator>Strategy Dossier</dc:creator>
  <cp:lastModifiedBy>Strategy Dossier</cp:lastModifiedBy>
  <cp:revision>1</cp:revision>
  <dcterms:created xsi:type="dcterms:W3CDTF">2026-08-26T05:49:05Z</dcterms:created>
  <dcterms:modified xsi:type="dcterms:W3CDTF">2026-08-26T05:49:05Z</dcterms:modified>
</cp:coreProperties>
</file>